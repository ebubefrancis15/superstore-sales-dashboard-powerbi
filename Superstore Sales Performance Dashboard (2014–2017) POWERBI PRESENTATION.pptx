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14BF-FBAB-D18C-65CC-5509AED3B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8283F-BA82-3601-0D8A-265F4A9FE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FF7FD-E33D-F8CD-3D3F-78CFC431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EC77E-9A53-7DAF-1446-65E4FDCE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C0EED-6AF9-DF30-5B09-46FEB7A0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1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D8F8-59AF-3DA6-C418-AE7808A5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B1824-F293-D603-FE55-886CF444C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88215-3843-1AE3-1421-5C29A635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87266-CC8B-3C78-8D40-F1B0073F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AC8-CBC0-4ADD-CE80-A4264F19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1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6D013-9110-9967-594A-F0C7BD4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D6902-C08E-AB22-5F2C-C21769223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ED9E-178D-5EB6-1D71-E2665959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86A43-8282-1248-5D3F-CB3EC503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0A3BA-BD29-E249-EFC1-53B83834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E241-EFB0-4C2E-FAA6-8B81364F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023D-C5A9-C734-DB38-CC8613C97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747EF-B554-618A-DCC3-8337587C0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7904F-C8F4-9F8A-36FA-3510FC81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E4D20-006E-DB7C-3B20-FD780389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AC14E-1FA7-9015-B57B-8F12542B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0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259A-22F7-49F3-C464-A44E066E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CC8C6-0FD2-C8BB-AB80-01B56B060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7356D-BC8C-846C-8EBC-48C47980A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5BF673-E3FB-DDAC-7970-1C0938478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CB234-CD99-3B28-5CFF-65BD28A1E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FA3BC-88E1-2CD0-7A1B-C0D6717E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0F681-07A4-6E4F-7ADE-9651CEA5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0F64C6-151D-32EB-80DC-9373D6FF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0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2858-D079-5361-77FB-3E597CC3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CCAAB-AE96-307C-1FC0-CA631B12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11CA-858D-8C8D-0B3C-CC2F7388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10D05-C751-428C-CA1D-C037A758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6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19B31-9F3A-5A00-4C50-4EBF3000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858CA-4FB0-7F8B-FC58-1E15E9F8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DC425-507C-306C-6B8B-5BDD567A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85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08B74-F0D5-0293-F551-58C7F2458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C8D47-B632-05A5-42A9-0CE5B5CB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3217F-1323-79A3-DA59-6FF893020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765-C002-B557-6977-858B2CC9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2D261-C6E9-A3AA-388B-EDAEFEE5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C1031-D847-A2ED-F750-A6D0730E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7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F454-A788-0C23-4BFD-2710CBC7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86E162-9254-62D7-7C2C-BD2774459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5A985-3EFC-DD46-3017-EEE0431E5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A7DFC-BBD1-F320-3023-E2AAB75C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2221A-577B-EE50-D764-182F6947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C8886-198E-D7D9-818A-1D5FD689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9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CAA5-4159-1EAC-D2DF-2007F3C5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3A9C0-3C12-174B-97D4-BD4A1836A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0E1F-E338-4CDC-AFCB-B25A49E6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D5943-A4BC-2752-B2E8-B544A56B4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C430-891E-C1EA-85FC-728B468B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8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C0CBC3-36B4-DF41-7272-90C746E33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64275-30C4-C46A-ACC3-23B89C294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385C4-076A-F47E-78B8-8FE3460D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EBC50-B364-E267-1681-2AC0EAB7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C3AE2-40A6-6E5F-9A67-CDCF8437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A9986-7C61-785F-04C3-88D5012A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9189D-CE7E-4170-692F-FCF221BA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081B-86D1-2175-0B2E-97843C40C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EECFA-E842-41CA-B1B0-ACB6F88F5BD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44442-0BB7-51B1-459C-5CC104213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43B17-7EA8-1F3C-DB88-155755D3F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2A595-B57B-4D59-BCDD-C80AC834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5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47DEFF-76B5-DF72-687C-CBF227BA8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68425"/>
          </a:xfrm>
        </p:spPr>
        <p:txBody>
          <a:bodyPr>
            <a:normAutofit/>
          </a:bodyPr>
          <a:lstStyle/>
          <a:p>
            <a:r>
              <a:rPr lang="en-US" sz="3600" b="1" dirty="0"/>
              <a:t>Superstore Sales Performance Dashboard (2014–2017)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89487-AE22-2391-0306-82E945C36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Analytics Internship – Week 4</a:t>
            </a:r>
            <a:endParaRPr lang="en-US" dirty="0"/>
          </a:p>
          <a:p>
            <a:r>
              <a:rPr lang="en-US" dirty="0"/>
              <a:t>Prepared by: </a:t>
            </a:r>
            <a:r>
              <a:rPr lang="en-US" b="1" dirty="0"/>
              <a:t>Ebube Francis Okafor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Tools Used:</a:t>
            </a:r>
          </a:p>
          <a:p>
            <a:pPr lvl="0"/>
            <a:r>
              <a:rPr lang="en-US" dirty="0"/>
              <a:t>Microsoft Power BI </a:t>
            </a:r>
          </a:p>
          <a:p>
            <a:pPr lvl="0"/>
            <a:r>
              <a:rPr lang="en-US" dirty="0"/>
              <a:t>DAX </a:t>
            </a:r>
          </a:p>
          <a:p>
            <a:pPr lvl="0"/>
            <a:r>
              <a:rPr lang="en-US" dirty="0"/>
              <a:t>Microsoft Excel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5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450C30-4913-D85F-CA80-F2CE172BBAFE}"/>
              </a:ext>
            </a:extLst>
          </p:cNvPr>
          <p:cNvSpPr txBox="1"/>
          <p:nvPr/>
        </p:nvSpPr>
        <p:spPr>
          <a:xfrm>
            <a:off x="589935" y="642342"/>
            <a:ext cx="113120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Dataset Overview</a:t>
            </a:r>
            <a:endParaRPr lang="en-US" b="1" dirty="0"/>
          </a:p>
          <a:p>
            <a:pPr>
              <a:buNone/>
            </a:pPr>
            <a:r>
              <a:rPr lang="en-US" sz="2000" b="1" dirty="0"/>
              <a:t>Dataset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Superstore Sales Dataset </a:t>
            </a:r>
          </a:p>
          <a:p>
            <a:pPr>
              <a:buNone/>
            </a:pPr>
            <a:r>
              <a:rPr lang="en-US" sz="2000" b="1" dirty="0"/>
              <a:t>Description</a:t>
            </a:r>
            <a:br>
              <a:rPr lang="en-US" dirty="0"/>
            </a:br>
            <a:r>
              <a:rPr lang="en-US" dirty="0"/>
              <a:t>The dataset contains historical sales transactions from a retail superstore between </a:t>
            </a:r>
            <a:r>
              <a:rPr lang="en-US" b="1" dirty="0"/>
              <a:t>2014 and 2017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sz="2000" b="1" dirty="0"/>
              <a:t>Key Variables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Order Date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Sales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Profit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Customer Name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Sub-Category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Region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Segment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Ship Mode </a:t>
            </a:r>
          </a:p>
          <a:p>
            <a:pPr>
              <a:buNone/>
            </a:pPr>
            <a:r>
              <a:rPr lang="en-US" sz="2000" b="1" dirty="0"/>
              <a:t>Objective</a:t>
            </a:r>
          </a:p>
          <a:p>
            <a:pPr>
              <a:buNone/>
            </a:pPr>
            <a:r>
              <a:rPr lang="en-US" sz="2000" dirty="0"/>
              <a:t>Analyze sales performance and identify business opportunities using interactive Power BI dashboards.</a:t>
            </a:r>
          </a:p>
        </p:txBody>
      </p:sp>
    </p:spTree>
    <p:extLst>
      <p:ext uri="{BB962C8B-B14F-4D97-AF65-F5344CB8AC3E}">
        <p14:creationId xmlns:p14="http://schemas.microsoft.com/office/powerpoint/2010/main" val="35455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DE485F-67B4-2DD7-4928-B16D5DC4747D}"/>
              </a:ext>
            </a:extLst>
          </p:cNvPr>
          <p:cNvSpPr txBox="1"/>
          <p:nvPr/>
        </p:nvSpPr>
        <p:spPr>
          <a:xfrm>
            <a:off x="530943" y="758975"/>
            <a:ext cx="8244348" cy="5082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Business Questions</a:t>
            </a:r>
            <a:endParaRPr lang="en-US" b="1" dirty="0"/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The dashboard was designed to answer the following questions: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is the total revenue generated?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Which regions perform best?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Which product categories generate the highest sales?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Which customer segment contributes the most revenue?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Which products generate the highest profit?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have sales changed over time?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Which states contribute most to sales?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1">
                <a:lumMod val="45000"/>
                <a:lumOff val="55000"/>
              </a:schemeClr>
            </a:gs>
            <a:gs pos="1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C32D1D-1DE9-A561-EDBF-6AF9F1E9F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199708"/>
              </p:ext>
            </p:extLst>
          </p:nvPr>
        </p:nvGraphicFramePr>
        <p:xfrm>
          <a:off x="619432" y="2128249"/>
          <a:ext cx="10513142" cy="2286000"/>
        </p:xfrm>
        <a:graphic>
          <a:graphicData uri="http://schemas.openxmlformats.org/drawingml/2006/table">
            <a:tbl>
              <a:tblPr/>
              <a:tblGrid>
                <a:gridCol w="5255342">
                  <a:extLst>
                    <a:ext uri="{9D8B030D-6E8A-4147-A177-3AD203B41FA5}">
                      <a16:colId xmlns:a16="http://schemas.microsoft.com/office/drawing/2014/main" val="15625911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25887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513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Total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$2.30M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04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Total 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5,009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00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Total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$286.40K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453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Profit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12.47%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4260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55C9132-E1AD-9E19-A913-F34B5C7FA300}"/>
              </a:ext>
            </a:extLst>
          </p:cNvPr>
          <p:cNvSpPr txBox="1"/>
          <p:nvPr/>
        </p:nvSpPr>
        <p:spPr>
          <a:xfrm>
            <a:off x="616974" y="725581"/>
            <a:ext cx="10515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Key Performance Indicators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dirty="0"/>
              <a:t>These KPIs provide an overall snapshot of the company's financial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57377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99EB9D-A00B-9EA8-AE1F-9778DE8CEDCB}"/>
              </a:ext>
            </a:extLst>
          </p:cNvPr>
          <p:cNvSpPr txBox="1"/>
          <p:nvPr/>
        </p:nvSpPr>
        <p:spPr>
          <a:xfrm>
            <a:off x="707923" y="427392"/>
            <a:ext cx="6887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Dashboard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4D1CA-B422-220D-4922-79C2FA41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22" y="1120067"/>
            <a:ext cx="10043651" cy="513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1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6A60F9-B6CC-B07E-2680-7F127D554158}"/>
              </a:ext>
            </a:extLst>
          </p:cNvPr>
          <p:cNvSpPr txBox="1"/>
          <p:nvPr/>
        </p:nvSpPr>
        <p:spPr>
          <a:xfrm>
            <a:off x="1002891" y="949250"/>
            <a:ext cx="7982564" cy="4959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The dashboard includes: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KPI Cards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Sales Trend by Year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Sales by Category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Sales by Segment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Sales by Region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Sales by State Map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Profit by Sub-Category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Interactive Filters</a:t>
            </a:r>
          </a:p>
        </p:txBody>
      </p:sp>
    </p:spTree>
    <p:extLst>
      <p:ext uri="{BB962C8B-B14F-4D97-AF65-F5344CB8AC3E}">
        <p14:creationId xmlns:p14="http://schemas.microsoft.com/office/powerpoint/2010/main" val="340152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F12E41-E738-B2B9-5882-69EE69ED30E5}"/>
              </a:ext>
            </a:extLst>
          </p:cNvPr>
          <p:cNvSpPr txBox="1"/>
          <p:nvPr/>
        </p:nvSpPr>
        <p:spPr>
          <a:xfrm>
            <a:off x="766915" y="828288"/>
            <a:ext cx="98814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Business Insights</a:t>
            </a:r>
          </a:p>
          <a:p>
            <a:pPr>
              <a:buNone/>
            </a:pPr>
            <a:r>
              <a:rPr lang="en-US" sz="2400" b="1" dirty="0"/>
              <a:t>Sales Trend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Sales increased steadily and reached their highest level in </a:t>
            </a:r>
            <a:r>
              <a:rPr lang="en-US" sz="2000" b="1" dirty="0"/>
              <a:t>2017</a:t>
            </a:r>
            <a:r>
              <a:rPr lang="en-US" sz="2000" dirty="0"/>
              <a:t>. </a:t>
            </a:r>
          </a:p>
          <a:p>
            <a:pPr>
              <a:buNone/>
            </a:pPr>
            <a:r>
              <a:rPr lang="en-US" sz="2400" b="1" dirty="0"/>
              <a:t>Regional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West</a:t>
            </a:r>
            <a:r>
              <a:rPr lang="en-US" sz="2000" dirty="0"/>
              <a:t> region generated the highest revenue.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South</a:t>
            </a:r>
            <a:r>
              <a:rPr lang="en-US" sz="2000" dirty="0"/>
              <a:t> region generated the lowest revenue. </a:t>
            </a:r>
          </a:p>
          <a:p>
            <a:pPr>
              <a:buNone/>
            </a:pPr>
            <a:r>
              <a:rPr lang="en-US" sz="2400" b="1" dirty="0"/>
              <a:t>Product Categories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Technology generated the highest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Furniture ranked second.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Office Supplies ranked third. </a:t>
            </a:r>
          </a:p>
          <a:p>
            <a:pPr>
              <a:buNone/>
            </a:pPr>
            <a:r>
              <a:rPr lang="en-US" sz="2400" b="1" dirty="0"/>
              <a:t>Customer Segment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Consumer customers contributed over half of total sales. </a:t>
            </a:r>
          </a:p>
          <a:p>
            <a:pPr>
              <a:buNone/>
            </a:pPr>
            <a:r>
              <a:rPr lang="en-US" sz="2400" b="1" dirty="0"/>
              <a:t>Profitability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Copiers generated the highest profit.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Tables recorded a net loss.</a:t>
            </a:r>
          </a:p>
        </p:txBody>
      </p:sp>
    </p:spTree>
    <p:extLst>
      <p:ext uri="{BB962C8B-B14F-4D97-AF65-F5344CB8AC3E}">
        <p14:creationId xmlns:p14="http://schemas.microsoft.com/office/powerpoint/2010/main" val="325118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4185FD-12AB-E7A5-A9C9-10FE82FFDFB0}"/>
              </a:ext>
            </a:extLst>
          </p:cNvPr>
          <p:cNvSpPr txBox="1"/>
          <p:nvPr/>
        </p:nvSpPr>
        <p:spPr>
          <a:xfrm>
            <a:off x="851718" y="764739"/>
            <a:ext cx="8970707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Recommendations</a:t>
            </a:r>
          </a:p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Based on the analysis: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Increase investment in Technology products.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Improve marketing in the South region.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Investigate losses associated with the Tables sub-category.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Expand successful sales strategies used in the West region.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Focus customer retention efforts on the Consumer segment.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Monitor yearly sales trends to sustain business growth</a:t>
            </a:r>
          </a:p>
        </p:txBody>
      </p:sp>
    </p:spTree>
    <p:extLst>
      <p:ext uri="{BB962C8B-B14F-4D97-AF65-F5344CB8AC3E}">
        <p14:creationId xmlns:p14="http://schemas.microsoft.com/office/powerpoint/2010/main" val="429267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5B84D1-1418-9E32-98CB-E007F2033C26}"/>
              </a:ext>
            </a:extLst>
          </p:cNvPr>
          <p:cNvSpPr txBox="1"/>
          <p:nvPr/>
        </p:nvSpPr>
        <p:spPr>
          <a:xfrm>
            <a:off x="792726" y="514692"/>
            <a:ext cx="6098458" cy="614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Challenges Encountered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Learning DAX calculations.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Understanding the difference between Measures and Calculated Columns.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Working with date hierarchies.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Designing an interactive dashboard.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Formatting visuals professionally. 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Skills Gained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 BI dashboard development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DAX Measures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KPI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Interactive Reporting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Storytelling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Business Insight Generation</a:t>
            </a:r>
          </a:p>
        </p:txBody>
      </p:sp>
    </p:spTree>
    <p:extLst>
      <p:ext uri="{BB962C8B-B14F-4D97-AF65-F5344CB8AC3E}">
        <p14:creationId xmlns:p14="http://schemas.microsoft.com/office/powerpoint/2010/main" val="87710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E7BCB1-1CF6-FEC8-A97E-F6FECEBE1217}"/>
              </a:ext>
            </a:extLst>
          </p:cNvPr>
          <p:cNvSpPr txBox="1"/>
          <p:nvPr/>
        </p:nvSpPr>
        <p:spPr>
          <a:xfrm>
            <a:off x="586248" y="646074"/>
            <a:ext cx="10902746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4000" b="1" dirty="0"/>
              <a:t>Conclusion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This dashboard successfully transformed raw transactional data into meaningful business insights that can support strategic decision-making and performance monitoring.</a:t>
            </a:r>
          </a:p>
        </p:txBody>
      </p:sp>
    </p:spTree>
    <p:extLst>
      <p:ext uri="{BB962C8B-B14F-4D97-AF65-F5344CB8AC3E}">
        <p14:creationId xmlns:p14="http://schemas.microsoft.com/office/powerpoint/2010/main" val="425678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400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Superstore Sales Performance Dashboard (2014–2017)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ebubefrancis15@gmail.com</dc:creator>
  <cp:lastModifiedBy>ebubefrancis15@gmail.com</cp:lastModifiedBy>
  <cp:revision>1</cp:revision>
  <dcterms:created xsi:type="dcterms:W3CDTF">2026-07-29T14:18:50Z</dcterms:created>
  <dcterms:modified xsi:type="dcterms:W3CDTF">2026-07-29T14:53:58Z</dcterms:modified>
</cp:coreProperties>
</file>